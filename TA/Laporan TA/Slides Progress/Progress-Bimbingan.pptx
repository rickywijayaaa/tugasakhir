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85216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TUGAS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Program Studi Sistem dan Teknologi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Institut Teknologi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Bimbingan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29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212121"/>
                </a:solidFill>
                <a:latin typeface="Calibri"/>
              </a:rPr>
              <a:t>Progress Tugas Akhir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788920"/>
            <a:ext cx="109728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Calibri"/>
              </a:rPr>
              <a:t>Mitigasi Halusinasi pada RAG-LLM Menggunakan Query Rewriting, Context Reranking, dan Active Hallucination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Calibri"/>
              </a:rPr>
              <a:t>Disusun oleh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49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Ricky Wijaya — 18222043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Calibri"/>
              </a:rPr>
              <a:t>Pembimbing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035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Dr. Fetty Fitriyanti Lubis, S.T.,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01 — 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Recap Masalah &amp; Tujuan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44805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54864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LLM rentan hallucination — keluaran terdengar meyakinkan tapi tidak faktual.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444444"/>
                </a:solidFill>
                <a:latin typeface="Calibri"/>
              </a:rPr>
              <a:t>RAG (Retrieval-Augmented Generation) mengurangi tapi tidak menghilangkan halusinasi karena: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Retrieval bisa gagal (kueri ambigu, dokumen tidak relevan)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Generation bisa tidak setia pada konteks yang benar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Konteks bising mendorong LLM mengarang 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394960" cy="44805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54864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TUJUAN 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Bandingkan RAG standar vs RAG + 3 teknik mitigasi.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■  </a:t>
            </a:r>
            <a:r>
              <a:rPr sz="1300">
                <a:solidFill>
                  <a:srgbClr val="444444"/>
                </a:solidFill>
                <a:latin typeface="Calibri"/>
              </a:rPr>
              <a:t>Query Rewriting — perbaiki kueri sebelum retrieval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■  </a:t>
            </a:r>
            <a:r>
              <a:rPr sz="1300">
                <a:solidFill>
                  <a:srgbClr val="444444"/>
                </a:solidFill>
                <a:latin typeface="Calibri"/>
              </a:rPr>
              <a:t>Context Reranking — pilih dokumen paling relevan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■  </a:t>
            </a:r>
            <a:r>
              <a:rPr sz="1300">
                <a:solidFill>
                  <a:srgbClr val="444444"/>
                </a:solidFill>
                <a:latin typeface="Calibri"/>
              </a:rPr>
              <a:t>Active Hallucination Detection — verifikasi output LLM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■  </a:t>
            </a:r>
            <a:r>
              <a:rPr sz="1300">
                <a:solidFill>
                  <a:srgbClr val="444444"/>
                </a:solidFill>
                <a:latin typeface="Calibri"/>
              </a:rPr>
              <a:t>Dataset: PubMedQA pqa_labeled, n=500 (yes/no/maybe)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02 —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RAG Pipeline yang Digunakan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Pertanyaan medis
dari pengguna</a:t>
            </a:r>
          </a:p>
        </p:txBody>
      </p:sp>
      <p:sp>
        <p:nvSpPr>
          <p:cNvPr id="10" name="Right Triangle 9"/>
          <p:cNvSpPr/>
          <p:nvPr/>
        </p:nvSpPr>
        <p:spPr>
          <a:xfrm rot="1800000">
            <a:off x="2287524" y="2596896"/>
            <a:ext cx="128016" cy="109728"/>
          </a:xfrm>
          <a:prstGeom prst="rtTriangl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0112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5832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1552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Query Rewriting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552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Opsional — LLM
menulis ulang kueri</a:t>
            </a:r>
          </a:p>
        </p:txBody>
      </p:sp>
      <p:sp>
        <p:nvSpPr>
          <p:cNvPr id="15" name="Right Triangle 14"/>
          <p:cNvSpPr/>
          <p:nvPr/>
        </p:nvSpPr>
        <p:spPr>
          <a:xfrm rot="1800000">
            <a:off x="4158996" y="2596896"/>
            <a:ext cx="128016" cy="109728"/>
          </a:xfrm>
          <a:prstGeom prst="rtTriangl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1584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7304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3024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Retriever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3024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BM25 atau
Hybrid (BM25+Dense)</a:t>
            </a:r>
          </a:p>
        </p:txBody>
      </p:sp>
      <p:sp>
        <p:nvSpPr>
          <p:cNvPr id="20" name="Right Triangle 19"/>
          <p:cNvSpPr/>
          <p:nvPr/>
        </p:nvSpPr>
        <p:spPr>
          <a:xfrm rot="1800000">
            <a:off x="6030468" y="2596896"/>
            <a:ext cx="128016" cy="109728"/>
          </a:xfrm>
          <a:prstGeom prst="rtTriangl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Context Reranking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Opsional — CrossEncoder
rerank top-20 → top-5</a:t>
            </a:r>
          </a:p>
        </p:txBody>
      </p:sp>
      <p:sp>
        <p:nvSpPr>
          <p:cNvPr id="25" name="Right Triangle 24"/>
          <p:cNvSpPr/>
          <p:nvPr/>
        </p:nvSpPr>
        <p:spPr>
          <a:xfrm rot="1800000">
            <a:off x="7901940" y="2596896"/>
            <a:ext cx="128016" cy="109728"/>
          </a:xfrm>
          <a:prstGeom prst="rtTriangl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4528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0248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5968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LLM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5968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Llama / OpenAI /
Claude jawab</a:t>
            </a:r>
          </a:p>
        </p:txBody>
      </p:sp>
      <p:sp>
        <p:nvSpPr>
          <p:cNvPr id="30" name="Right Triangle 29"/>
          <p:cNvSpPr/>
          <p:nvPr/>
        </p:nvSpPr>
        <p:spPr>
          <a:xfrm rot="1800000">
            <a:off x="9773412" y="2596896"/>
            <a:ext cx="128016" cy="109728"/>
          </a:xfrm>
          <a:prstGeom prst="rtTriangl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06000" y="1920240"/>
            <a:ext cx="1734312" cy="14630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1720" y="2057400"/>
            <a:ext cx="164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7440" y="2377440"/>
            <a:ext cx="1551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Final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7440" y="2834640"/>
            <a:ext cx="1551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yes / no / maybe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49039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4 KONFIGURASI YANG DIBANDINGKAN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256717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24528"/>
            <a:ext cx="229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617720"/>
            <a:ext cx="229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Calibri"/>
              </a:rPr>
              <a:t>Retriever → LLM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90138" y="4114800"/>
            <a:ext cx="256717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7298" y="4224528"/>
            <a:ext cx="229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+ QR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7298" y="4617720"/>
            <a:ext cx="229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Calibri"/>
              </a:rPr>
              <a:t>QR → Retriever → LLM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114800"/>
            <a:ext cx="256717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8796" y="4224528"/>
            <a:ext cx="229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+ 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8796" y="4617720"/>
            <a:ext cx="229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Calibri"/>
              </a:rPr>
              <a:t>Retriever → CR → LLM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3134" y="4114800"/>
            <a:ext cx="256717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0294" y="4224528"/>
            <a:ext cx="229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+ QR + 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0294" y="4617720"/>
            <a:ext cx="22928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Calibri"/>
              </a:rPr>
              <a:t>QR → Retriever → CR → 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3 LLM YANG DIUJI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Llama 3.3 70B (via Groq) — open-source benchmark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GPT-4.1-mini (OpenAI) — closed-source efficient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Claude Haiku 4.5 (Anthropic) — closed-source efficient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03 —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Chunking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457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PUBMEDQA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1.706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chunks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97680"/>
            <a:ext cx="4572000" cy="18288"/>
          </a:xfrm>
          <a:prstGeom prst="rect">
            <a:avLst/>
          </a:prstGeom>
          <a:solidFill>
            <a:srgbClr val="6F9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500 abstrak × ~3.4 chunk per abstrak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200–400 token per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Sumber: PubMed scientific abstracts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PER-SECTION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Setiap abstrak dipecah berdasarkan section ilmiahnya: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13716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konteks penelitian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383280"/>
            <a:ext cx="13716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metode/protokol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80"/>
            <a:ext cx="13716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404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temuan numerik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97680"/>
            <a:ext cx="137160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97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12121"/>
                </a:solidFill>
                <a:latin typeface="Calibri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97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ringkasan jawaban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83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ALASAN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3492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Menjaga koherensi semantik per topik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Ukuran pas untuk context window LLM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Hindari memotong klausa medis penting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04 —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Embedding &amp; Retriever — 2 Variasi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VARIASI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BM25-only (Sparse)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Library: rank_bm25 (BM25Okapi)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Tokenisasi sederhana, exact keyword match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Top-5 dokumen langsung ke LLM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+ Cocok untuk istilah medis spesifik (nama obat, dosis, kode)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− Lemah untuk parafrasa &amp; sinonim biomedis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5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Trade-off: ringan, deterministik, tapi miss semantic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394960" cy="45720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VARIASI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Calibri"/>
              </a:rPr>
              <a:t>Hybrid (BM25 + Dense)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60604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BM25 top-50 ⊕ Dense top-50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Dense: OpenAI text-embedding-3-small (1536-dim)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Vector store: ChromaDB persistent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Fusion: Reciprocal Rank Fusion (k=60)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Final top-5 ke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5215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Menangkap exact match (BM25) + semantik (Dense)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05 —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Reranker (Context Reranking)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4572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Calibri"/>
              </a:rPr>
              <a:t>CrossEncoder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4E79"/>
                </a:solidFill>
                <a:latin typeface="Consolas"/>
              </a:rPr>
              <a:t>ms-marco-MiniLM-L-6-v2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52044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Calibri"/>
              </a:rPr>
              <a:t>Parameter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22M (CPU-friendly)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Calibri"/>
              </a:rPr>
              <a:t>Arsitektur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2062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BERT cross-encoder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Calibri"/>
              </a:rPr>
              <a:t>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709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MS MARCO passage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Calibri"/>
              </a:rPr>
              <a:t>Pair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2120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(query, doc) → relevance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ALUR KERJA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233172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286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Calibri"/>
              </a:rPr>
              <a:t>Retrieve top-20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BM25 atau Hybrid kembalikan 20 kandidat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Calibri"/>
              </a:rPr>
              <a:t>Pair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520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CrossEncoder skor (query, doc) untuk tiap kandidat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4069079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02335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Calibri"/>
              </a:rPr>
              <a:t>Re-rank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38911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Urutkan ulang berdasarkan skor relevansi</a:t>
            </a:r>
          </a:p>
        </p:txBody>
      </p:sp>
      <p:sp>
        <p:nvSpPr>
          <p:cNvPr id="29" name="Oval 28"/>
          <p:cNvSpPr/>
          <p:nvPr/>
        </p:nvSpPr>
        <p:spPr>
          <a:xfrm>
            <a:off x="6263640" y="4937759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892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2121"/>
                </a:solidFill>
                <a:latin typeface="Calibri"/>
              </a:rPr>
              <a:t>Pilih top-5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25779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5 dokumen terbaik diteruskan ke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852160"/>
            <a:ext cx="54864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897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Tujuan: kurangi context noise sebelum input ke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06 —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Setup Eksperimen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Calibri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12121"/>
                </a:solidFill>
                <a:latin typeface="Calibri"/>
              </a:rPr>
              <a:t>Sampel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PubMedQA pqa_labeled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830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12121"/>
                </a:solidFill>
                <a:latin typeface="Calibri"/>
              </a:rPr>
              <a:t>Konfigurasi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3 LLM × 4 teknik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79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7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Calibri"/>
              </a:rPr>
              <a:t>1.706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12121"/>
                </a:solidFill>
                <a:latin typeface="Calibri"/>
              </a:rPr>
              <a:t>Chunks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per-section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611879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84047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Calibri"/>
              </a:rPr>
              <a:t>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262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12121"/>
                </a:solidFill>
                <a:latin typeface="Calibri"/>
              </a:rPr>
              <a:t>Temperature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920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deterministik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DISTRIBUSI 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40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331720"/>
            <a:ext cx="4114800" cy="20116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2331720"/>
            <a:ext cx="2263140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2240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2834640"/>
            <a:ext cx="4114800" cy="20116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2834640"/>
            <a:ext cx="1316736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75720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246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maybe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337560"/>
            <a:ext cx="4114800" cy="20116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3337560"/>
            <a:ext cx="534924" cy="201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75720" y="3246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13%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METRIK EVALUASI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3891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Label Accuracy (yes/no/maybe vs ground truth)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Hallucination rate = 1 − accuracy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RAGAS: Faithfulness (jawaban ter-grounding ke konteks)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444444"/>
                </a:solidFill>
                <a:latin typeface="Calibri"/>
              </a:rPr>
              <a:t>RAGAS: Context Recall (cakupan bukti relevan)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07 —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Akurasi Antar LLM × Teknik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858000" cy="44348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675120" cy="26525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Context Reranking konsisten meningkatkan akurasi di semua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1188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06908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Pemilihan model LLM mempengaruhi accuracy secara signifikan.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Penambahan teknik mitigasi tidak selalu konsisten antar model.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CR konsisten naikkan akurasi vs RAG biasa di semua LLM.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QR paradoks: BM25 score ↑ tapi accuracy ↓ (over-specification).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08 —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Per-Label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858000" cy="44348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_per_lab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675120" cy="27703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Bias prediksi yes — performa drop drastis untuk label no &amp; maybe.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1188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06908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Recall label "yes" sangat tinggi (&gt;85% di semua konfigurasi).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Recall label "no" rendah (~17% di Llama Baseline).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Recall label "maybe" sangat rendah (1–3%) — distribusi imbalanced.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CR sedikit memperbaiki tapi belum signifikan.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Bias ini di sisi generation prompting, bukan retrieval.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09 —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RAGAS: Faithfulness &amp; Context Recall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858000" cy="44348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_raga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675120" cy="3628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Context Reranking mencapai Faithfulness &amp; Context Recall tertinggi.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1188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06908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Faithfulness: CR &gt; Baseline &gt; QR — jawaban CR lebih ter-grounding.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Context Recall: CR menemukan lebih banyak bukti relevan.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QR menurunkan kedua metrik karena keyword drift di BM25.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Mendukung temuan label accuracy: CR teknik paling stabil.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10 —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Hybrid Retrieval vs BM25-only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858000" cy="44348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1_bm25_vs_hybri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675120" cy="3640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691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Calibri"/>
              </a:rPr>
              <a:t>Hybrid retrieval mengungguli BM25-only di hampir semua konfigurasi.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11880"/>
            <a:ext cx="73152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06908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Hybrid (BM25+Dense) konsisten naikkan accuracy ~2–4 pp vs BM25.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Kombinasi terbaik: Hybrid + CR + GPT-4.1-mini.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Dense menangkap parafrasa medis yang miss di keyword match.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Trade-off: butuh API embedding (~$0.03 index + $0.001/query).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11 —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Calibri"/>
              </a:rPr>
              <a:t>Next Step &amp; Pertanyaan Diskusi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6E49"/>
                </a:solidFill>
                <a:latin typeface="Calibri"/>
              </a:rPr>
              <a:t>✓  SUDAH SELESAI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C6E4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Implementasi Baseline, QR, CR, dan QR+CR.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C6E4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Eksperimen multi-LLM (Llama 3.3 70B, GPT-4.1-mini, Claude Haiku 4.5).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C6E4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Eksperimen multi-retriever (BM25-only vs Hybrid).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C6E4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Evaluasi 12 konfigurasi × 500 sampel (Phase 1 + Phase 2 RAGAS).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→  AKAN DIKERJAKAN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Implementasi Active Hallucination Detection (notebook 05).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Konfigurasi gabungan E (QR + CR + AHD).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Penulisan Bab IV (Perancangan), V (Implementasi), VI (Evaluasi).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■  </a:t>
            </a:r>
            <a:r>
              <a:rPr sz="1150">
                <a:solidFill>
                  <a:srgbClr val="444444"/>
                </a:solidFill>
                <a:latin typeface="Calibri"/>
              </a:rPr>
              <a:t>Revisi Abstrak (saat ini masih placeholder template).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34840"/>
            <a:ext cx="11091672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617720"/>
            <a:ext cx="54864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PERTANYAAN UNTUK DISKUSI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■  </a:t>
            </a:r>
            <a:r>
              <a:rPr sz="1250">
                <a:solidFill>
                  <a:srgbClr val="444444"/>
                </a:solidFill>
                <a:latin typeface="Calibri"/>
              </a:rPr>
              <a:t>Apakah scope AHD cukup pakai self-consistency check, atau perlu confidence-based detection juga?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■  </a:t>
            </a:r>
            <a:r>
              <a:rPr sz="1250">
                <a:solidFill>
                  <a:srgbClr val="444444"/>
                </a:solidFill>
                <a:latin typeface="Calibri"/>
              </a:rPr>
              <a:t>Apakah Hybrid retrieval bisa masuk sebagai kontribusi tambahan thesis (ablation retriever)?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Progress TA — Ricky Wijaya 18222043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